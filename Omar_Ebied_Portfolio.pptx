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9F76C"/>
                </a:solidFill>
                <a:latin typeface="Consolas"/>
              </a:defRPr>
            </a:pPr>
            <a:r>
              <a:t>OE.  OMAR EBIED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43000"/>
            <a:ext cx="3108960" cy="365760"/>
          </a:xfrm>
          <a:prstGeom prst="roundRect">
            <a:avLst/>
          </a:prstGeom>
          <a:solidFill>
            <a:srgbClr val="132428"/>
          </a:solidFill>
          <a:ln w="15240">
            <a:solidFill>
              <a:srgbClr val="70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612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F0DF"/>
                </a:solidFill>
                <a:latin typeface="Consolas"/>
              </a:defRPr>
            </a:pPr>
            <a:r>
              <a:t>●  AVAILABLE FOR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949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>
                <a:solidFill>
                  <a:srgbClr val="94A9A4"/>
                </a:solidFill>
                <a:latin typeface="Segoe UI"/>
              </a:defRPr>
            </a:pPr>
            <a:r>
              <a:t>Hello, I’m</a:t>
            </a:r>
          </a:p>
          <a:p>
            <a:pPr>
              <a:spcAft>
                <a:spcPts val="800"/>
              </a:spcAft>
              <a:defRPr sz="5000" b="1">
                <a:solidFill>
                  <a:srgbClr val="EDF4ED"/>
                </a:solidFill>
                <a:latin typeface="Segoe UI"/>
              </a:defRPr>
            </a:pPr>
            <a:r>
              <a:t>Omar Ebied.</a:t>
            </a:r>
          </a:p>
          <a:p>
            <a:pPr>
              <a:spcAft>
                <a:spcPts val="1400"/>
              </a:spcAft>
              <a:defRPr sz="1550" b="1">
                <a:solidFill>
                  <a:srgbClr val="70F0DF"/>
                </a:solidFill>
                <a:latin typeface="Segoe UI"/>
              </a:defRPr>
            </a:pPr>
            <a:r>
              <a:t>Computer Science &amp; IT Student  |  Aspiring Big Data Engineer</a:t>
            </a:r>
          </a:p>
          <a:p>
            <a:pPr>
              <a:spcAft>
                <a:spcPts val="1200"/>
              </a:spcAft>
              <a:defRPr sz="1300">
                <a:solidFill>
                  <a:srgbClr val="94A9A4"/>
                </a:solidFill>
                <a:latin typeface="Segoe UI"/>
              </a:defRPr>
            </a:pPr>
            <a:r>
              <a:t>I help growing businesses unlock actionable insights from their data and secure their systems through data-driven analysis and strong security fundamentals.</a:t>
            </a:r>
          </a:p>
          <a:p>
            <a:pPr>
              <a:defRPr sz="1200" i="1">
                <a:solidFill>
                  <a:srgbClr val="C9F76C"/>
                </a:solidFill>
                <a:latin typeface="Segoe UI"/>
              </a:defRPr>
            </a:pPr>
            <a:r>
              <a:t>« أساعد الشركات على استخراج رؤى دقيقة من بياناتهم وتأمين أنظمتهم من خلال تحليل البيانات المعتمد على أسس أمان قوية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4A9A4"/>
                </a:solidFill>
                <a:latin typeface="Consolas"/>
              </a:defRPr>
            </a:pPr>
            <a:r>
              <a:t>📍 Cairo, Egypt   •   🏛 Helwan National University (HNU)   •   🎓 Class of 2028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097280"/>
            <a:ext cx="3566160" cy="356616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fi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34440"/>
            <a:ext cx="3291840" cy="3291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737360"/>
            <a:ext cx="1463040" cy="411480"/>
          </a:xfrm>
          <a:prstGeom prst="roundRect">
            <a:avLst/>
          </a:prstGeom>
          <a:solidFill>
            <a:srgbClr val="132428"/>
          </a:solidFill>
          <a:ln w="15240">
            <a:solidFill>
              <a:srgbClr val="C9F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75564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C9F76C"/>
                </a:solidFill>
                <a:latin typeface="Consolas"/>
              </a:defRPr>
            </a:pPr>
            <a:r>
              <a:t>⚡ DATA ENG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114800"/>
            <a:ext cx="1463040" cy="411480"/>
          </a:xfrm>
          <a:prstGeom prst="roundRect">
            <a:avLst/>
          </a:prstGeom>
          <a:solidFill>
            <a:srgbClr val="132428"/>
          </a:solidFill>
          <a:ln w="15240">
            <a:solidFill>
              <a:srgbClr val="70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4133087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70F0DF"/>
                </a:solidFill>
                <a:latin typeface="Consolas"/>
              </a:defRPr>
            </a:pPr>
            <a:r>
              <a:t>🛡 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01  //  ABOUT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Building the bridge between raw data and clear decisions.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Developing the technical foundation to turn complex information into reliable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6217920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5669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DF4ED"/>
                </a:solidFill>
                <a:latin typeface="Segoe UI"/>
              </a:defRPr>
            </a:pPr>
            <a:r>
              <a:t>I’m a Computer Science &amp; Information Technology student at Helwan National University, developing the technical foundation to turn complex information into useful, reliable systems.</a:t>
            </a:r>
          </a:p>
          <a:p>
            <a:pPr>
              <a:spcAft>
                <a:spcPts val="1600"/>
              </a:spcAft>
              <a:defRPr sz="1350">
                <a:solidFill>
                  <a:srgbClr val="94A9A4"/>
                </a:solidFill>
                <a:latin typeface="Segoe UI"/>
              </a:defRPr>
            </a:pPr>
            <a:r>
              <a:t>My core focus sits at the intersection of Data Engineering, Big Data, and Cybersecurity—where well-designed data foundations and strong security practices empower organizations to scale with confidence.</a:t>
            </a:r>
          </a:p>
          <a:p>
            <a:pPr>
              <a:spcAft>
                <a:spcPts val="600"/>
              </a:spcAft>
              <a:defRPr sz="1150" b="1">
                <a:solidFill>
                  <a:srgbClr val="70F0DF"/>
                </a:solidFill>
                <a:latin typeface="Consolas"/>
              </a:defRPr>
            </a:pPr>
            <a:r>
              <a:t>Key Philosophies:</a:t>
            </a:r>
          </a:p>
          <a:p>
            <a:pPr>
              <a:defRPr sz="1200">
                <a:solidFill>
                  <a:srgbClr val="94A9A4"/>
                </a:solidFill>
                <a:latin typeface="Segoe UI"/>
              </a:defRPr>
            </a:pPr>
            <a:r>
              <a:t>• Data Accuracy: Rigorous validation &amp; scalable relational schema design.</a:t>
            </a:r>
            <a:br/>
            <a:r>
              <a:t>• Threat Resilience: Deep awareness of network risk, attacks, &amp; defense.</a:t>
            </a:r>
            <a:br/>
            <a:r>
              <a:t>• Continuous Growth: Hands-on labs, competitive training programs, &amp; open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828800"/>
            <a:ext cx="4023360" cy="1298448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1993392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9F76C"/>
                </a:solidFill>
                <a:latin typeface="Segoe UI"/>
              </a:defRPr>
            </a:pPr>
            <a:r>
              <a:t>2024 — 2028</a:t>
            </a:r>
          </a:p>
          <a:p>
            <a:pPr>
              <a:spcBef>
                <a:spcPts val="200"/>
              </a:spcBef>
              <a:defRPr sz="1100" b="1">
                <a:solidFill>
                  <a:srgbClr val="EDF4ED"/>
                </a:solidFill>
                <a:latin typeface="Consolas"/>
              </a:defRPr>
            </a:pPr>
            <a:r>
              <a:t>CSIT Degree at HNU</a:t>
            </a:r>
          </a:p>
          <a:p>
            <a:pPr>
              <a:spcBef>
                <a:spcPts val="2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4-year academic program specializing in Computer Science &amp; Information Technology.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273552"/>
            <a:ext cx="4023360" cy="1298448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438144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70F0DF"/>
                </a:solidFill>
                <a:latin typeface="Segoe UI"/>
              </a:defRPr>
            </a:pPr>
            <a:r>
              <a:t>2+ Technical Tracks</a:t>
            </a:r>
          </a:p>
          <a:p>
            <a:pPr>
              <a:spcBef>
                <a:spcPts val="200"/>
              </a:spcBef>
              <a:defRPr sz="1100" b="1">
                <a:solidFill>
                  <a:srgbClr val="EDF4ED"/>
                </a:solidFill>
                <a:latin typeface="Consolas"/>
              </a:defRPr>
            </a:pPr>
            <a:r>
              <a:t>DEPI &amp; NTI Trainee</a:t>
            </a:r>
          </a:p>
          <a:p>
            <a:pPr>
              <a:spcBef>
                <a:spcPts val="2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Intensive training in Microsoft Data Engineering and Network Cybersecurity.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718304"/>
            <a:ext cx="4023360" cy="1298448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4882896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EDF4ED"/>
                </a:solidFill>
                <a:latin typeface="Segoe UI"/>
              </a:defRPr>
            </a:pPr>
            <a:r>
              <a:t>3 Core Projects</a:t>
            </a:r>
          </a:p>
          <a:p>
            <a:pPr>
              <a:spcBef>
                <a:spcPts val="200"/>
              </a:spcBef>
              <a:defRPr sz="1100" b="1">
                <a:solidFill>
                  <a:srgbClr val="EDF4ED"/>
                </a:solidFill>
                <a:latin typeface="Consolas"/>
              </a:defRPr>
            </a:pPr>
            <a:r>
              <a:t>Full-Stack &amp; Security Labs</a:t>
            </a:r>
          </a:p>
          <a:p>
            <a:pPr>
              <a:spcBef>
                <a:spcPts val="2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Proven hands-on implementations in relational databases, network attacks, and web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02  // 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Academic Foundation &amp; Core Coursework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Structured university degree paired with practical hands-on engineering principles.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201168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70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48840"/>
            <a:ext cx="1371600" cy="1371600"/>
          </a:xfrm>
          <a:prstGeom prst="roundRect">
            <a:avLst/>
          </a:prstGeom>
          <a:solidFill>
            <a:srgbClr val="132428"/>
          </a:solidFill>
          <a:ln w="15240">
            <a:solidFill>
              <a:srgbClr val="C9F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14600"/>
            <a:ext cx="1371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9F76C"/>
                </a:solidFill>
                <a:latin typeface="Segoe UI"/>
              </a:defRPr>
            </a:pPr>
            <a:r>
              <a:t>HNU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57400"/>
            <a:ext cx="82296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2024 — 2028  •  CAIRO, EGYPT  •  UNDERGRADUATE</a:t>
            </a:r>
          </a:p>
          <a:p>
            <a:pPr>
              <a:spcBef>
                <a:spcPts val="400"/>
              </a:spcBef>
              <a:defRPr sz="2100" b="1">
                <a:solidFill>
                  <a:srgbClr val="EDF4ED"/>
                </a:solidFill>
                <a:latin typeface="Segoe UI"/>
              </a:defRPr>
            </a:pPr>
            <a:r>
              <a:t>Bachelor of Computer Science &amp; Information Technology (CSIT)</a:t>
            </a:r>
          </a:p>
          <a:p>
            <a:pPr>
              <a:spcBef>
                <a:spcPts val="300"/>
              </a:spcBef>
              <a:defRPr sz="1400">
                <a:solidFill>
                  <a:srgbClr val="94A9A4"/>
                </a:solidFill>
                <a:latin typeface="Segoe UI"/>
              </a:defRPr>
            </a:pPr>
            <a:r>
              <a:t>Helwan National University (HNU)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9F76C"/>
                </a:solidFill>
                <a:latin typeface="Consolas"/>
              </a:defRPr>
            </a:pPr>
            <a:r>
              <a:t>SELECTED ACADEMIC COURSEWORK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80560"/>
            <a:ext cx="1993392" cy="16916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66420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Segoe UI"/>
              </a:defRPr>
            </a:pPr>
            <a:r>
              <a:t>Database Systems</a:t>
            </a:r>
          </a:p>
          <a:p>
            <a:pPr>
              <a:spcBef>
                <a:spcPts val="6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Relational modeling, SQL queries, normalization, ACID properties, transaction processing.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4480560"/>
            <a:ext cx="1993392" cy="16916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8104" y="4617720"/>
            <a:ext cx="166420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Segoe UI"/>
              </a:defRPr>
            </a:pPr>
            <a:r>
              <a:t>Algorithms &amp; DS</a:t>
            </a:r>
          </a:p>
          <a:p>
            <a:pPr>
              <a:spcBef>
                <a:spcPts val="6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Complexity analysis, sorting, graph traversal, search algorithms, data structures.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4480560"/>
            <a:ext cx="1993392" cy="16916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48656" y="4617720"/>
            <a:ext cx="166420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Segoe UI"/>
              </a:defRPr>
            </a:pPr>
            <a:r>
              <a:t>Computer Networks</a:t>
            </a:r>
          </a:p>
          <a:p>
            <a:pPr>
              <a:spcBef>
                <a:spcPts val="6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OSI model, TCP/IP, IP routing, subnetting, Wireshark packet analysis, protocols.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4616" y="4480560"/>
            <a:ext cx="1993392" cy="16916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4617720"/>
            <a:ext cx="166420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Segoe UI"/>
              </a:defRPr>
            </a:pPr>
            <a:r>
              <a:t>Operating Systems</a:t>
            </a:r>
          </a:p>
          <a:p>
            <a:pPr>
              <a:spcBef>
                <a:spcPts val="6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Process scheduling, memory management, file systems, concurrency, Linux CLI.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4480560"/>
            <a:ext cx="1993392" cy="16916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4617720"/>
            <a:ext cx="166420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Segoe UI"/>
              </a:defRPr>
            </a:pPr>
            <a:r>
              <a:t>Programming</a:t>
            </a:r>
          </a:p>
          <a:p>
            <a:pPr>
              <a:spcBef>
                <a:spcPts val="600"/>
              </a:spcBef>
              <a:defRPr sz="1000">
                <a:solidFill>
                  <a:srgbClr val="94A9A4"/>
                </a:solidFill>
                <a:latin typeface="Segoe UI"/>
              </a:defRPr>
            </a:pPr>
            <a:r>
              <a:t>Object-oriented programming, data encapsulation, C/C++, Java, and Python fundamentals.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03  // 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A practical, growing technical toolkit.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Hands-on capabilities developed through academic study, specialized tracks, and project building.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9933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62763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Consolas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400" b="1">
                <a:solidFill>
                  <a:srgbClr val="EDF4ED"/>
                </a:solidFill>
                <a:latin typeface="Segoe UI"/>
              </a:defRPr>
            </a:pPr>
            <a:r>
              <a:t>Programming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950">
                <a:solidFill>
                  <a:srgbClr val="70F0DF"/>
                </a:solidFill>
                <a:latin typeface="Consolas"/>
              </a:defRPr>
            </a:pPr>
            <a:r>
              <a:t>Python · C · C++ · Java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Object-Oriented Programming (OOP)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Data structures &amp; algorithms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Scripting &amp; automation with Python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System programming fundamentals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1828800"/>
            <a:ext cx="19933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2011680"/>
            <a:ext cx="162763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C9F76C"/>
                </a:solidFill>
                <a:latin typeface="Consolas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400" b="1">
                <a:solidFill>
                  <a:srgbClr val="EDF4ED"/>
                </a:solidFill>
                <a:latin typeface="Segoe UI"/>
              </a:defRPr>
            </a:pPr>
            <a:r>
              <a:t>Data &amp; Databases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950">
                <a:solidFill>
                  <a:srgbClr val="70F0DF"/>
                </a:solidFill>
                <a:latin typeface="Consolas"/>
              </a:defRPr>
            </a:pPr>
            <a:r>
              <a:t>SQL · MS SQL Server · RDBMS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Database schema &amp; relational modeling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Complex SQL querying &amp; optimization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Data pipelines &amp; ETL concepts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Big Data fundamentals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28800"/>
            <a:ext cx="19933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2011680"/>
            <a:ext cx="162763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70F0DF"/>
                </a:solidFill>
                <a:latin typeface="Consolas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400" b="1">
                <a:solidFill>
                  <a:srgbClr val="EDF4ED"/>
                </a:solidFill>
                <a:latin typeface="Segoe UI"/>
              </a:defRPr>
            </a:pPr>
            <a:r>
              <a:t>Cybersecurity &amp; Net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950">
                <a:solidFill>
                  <a:srgbClr val="70F0DF"/>
                </a:solidFill>
                <a:latin typeface="Consolas"/>
              </a:defRPr>
            </a:pPr>
            <a:r>
              <a:t>CCNA · Kali · Wireshark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Network protocols &amp; packet capture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Traffic analysis &amp; vulnerability scanning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Man-in-the-Middle (MITM) simulations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Security assessment &amp; reconnaissance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4616" y="1828800"/>
            <a:ext cx="19933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2011680"/>
            <a:ext cx="162763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DF4ED"/>
                </a:solidFill>
                <a:latin typeface="Consolas"/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400" b="1">
                <a:solidFill>
                  <a:srgbClr val="EDF4ED"/>
                </a:solidFill>
                <a:latin typeface="Segoe UI"/>
              </a:defRPr>
            </a:pPr>
            <a:r>
              <a:t>Web Technologies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950">
                <a:solidFill>
                  <a:srgbClr val="70F0DF"/>
                </a:solidFill>
                <a:latin typeface="Consolas"/>
              </a:defRPr>
            </a:pPr>
            <a:r>
              <a:t>HTML · CSS · JavaScript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Responsive &amp; accessible UI layout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Modern CSS Grid, Flexbox, variables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Interactive DOM scripting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Client-server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8" y="1828800"/>
            <a:ext cx="19933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8048" y="2011680"/>
            <a:ext cx="162763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C9F76C"/>
                </a:solidFill>
                <a:latin typeface="Consolas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400" b="1">
                <a:solidFill>
                  <a:srgbClr val="EDF4ED"/>
                </a:solidFill>
                <a:latin typeface="Segoe UI"/>
              </a:defRPr>
            </a:pPr>
            <a:r>
              <a:t>Soft Skills</a:t>
            </a:r>
          </a:p>
          <a:p>
            <a:pPr>
              <a:spcBef>
                <a:spcPts val="400"/>
              </a:spcBef>
              <a:spcAft>
                <a:spcPts val="1400"/>
              </a:spcAft>
              <a:defRPr sz="950">
                <a:solidFill>
                  <a:srgbClr val="70F0DF"/>
                </a:solidFill>
                <a:latin typeface="Consolas"/>
              </a:defRPr>
            </a:pPr>
            <a:r>
              <a:t>Problem-Solving · Teamwork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Analytical thinking &amp; debugging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Collaborative teamwork &amp; git flow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Adaptability in fast-evolving tech</a:t>
            </a:r>
          </a:p>
          <a:p>
            <a:pPr>
              <a:spcBef>
                <a:spcPts val="500"/>
              </a:spcBef>
              <a:defRPr sz="1050">
                <a:solidFill>
                  <a:srgbClr val="94A9A4"/>
                </a:solidFill>
                <a:latin typeface="Segoe UI"/>
              </a:defRPr>
            </a:pPr>
            <a:r>
              <a:t>• Technical documentation &amp;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04  // 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Learning by solving real problems.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Structured around the CAR (Challenge — Action — Result)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0312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70F0DF"/>
                </a:solidFill>
                <a:latin typeface="Consolas"/>
              </a:defRPr>
            </a:pPr>
            <a:r>
              <a:t>JUL 2026 — PRESENT  •  DATA SCIENCE</a:t>
            </a:r>
          </a:p>
          <a:p>
            <a:pPr>
              <a:spcBef>
                <a:spcPts val="400"/>
              </a:spcBef>
              <a:defRPr sz="2000" b="1">
                <a:solidFill>
                  <a:srgbClr val="EDF4ED"/>
                </a:solidFill>
                <a:latin typeface="Segoe UI"/>
              </a:defRPr>
            </a:pPr>
            <a:r>
              <a:t>Microsoft Data Engineer Track</a:t>
            </a:r>
          </a:p>
          <a:p>
            <a:pPr>
              <a:spcAft>
                <a:spcPts val="1400"/>
              </a:spcAft>
              <a:defRPr sz="1200">
                <a:solidFill>
                  <a:srgbClr val="94A9A4"/>
                </a:solidFill>
                <a:latin typeface="Segoe UI"/>
              </a:defRPr>
            </a:pPr>
            <a:r>
              <a:t>DEPI Trainee · Digital Egypt Pioneers Initiative</a:t>
            </a:r>
          </a:p>
          <a:p>
            <a:pPr>
              <a:spcBef>
                <a:spcPts val="600"/>
              </a:spcBef>
              <a:defRPr sz="1100" b="1">
                <a:solidFill>
                  <a:srgbClr val="70F0DF"/>
                </a:solidFill>
                <a:latin typeface="Consolas"/>
              </a:defRPr>
            </a:pPr>
            <a:r>
              <a:t>[C] Challenge: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Building the technical foundations needed to engineer and operate modern data pipelines and enterprise analytics.</a:t>
            </a:r>
          </a:p>
          <a:p>
            <a:pPr>
              <a:spcBef>
                <a:spcPts val="600"/>
              </a:spcBef>
              <a:defRPr sz="1100" b="1">
                <a:solidFill>
                  <a:srgbClr val="C9F76C"/>
                </a:solidFill>
                <a:latin typeface="Consolas"/>
              </a:defRPr>
            </a:pPr>
            <a:r>
              <a:t>[A] Action: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Training in core data engineering concepts, database architectures, analytics workflows, and Microsoft-aligned tools.</a:t>
            </a:r>
          </a:p>
          <a:p>
            <a:pPr>
              <a:spcBef>
                <a:spcPts val="600"/>
              </a:spcBef>
              <a:defRPr sz="1100" b="1">
                <a:solidFill>
                  <a:srgbClr val="EDF4ED"/>
                </a:solidFill>
                <a:latin typeface="Consolas"/>
              </a:defRPr>
            </a:pPr>
            <a:r>
              <a:t>[R] Result: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Strengthening a structured, industry-relevant competency path toward enterprise Big Data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103120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9F76C"/>
                </a:solidFill>
                <a:latin typeface="Consolas"/>
              </a:defRPr>
            </a:pPr>
            <a:r>
              <a:t>SEP 2025  •  CYBERSECURITY</a:t>
            </a:r>
          </a:p>
          <a:p>
            <a:pPr>
              <a:spcBef>
                <a:spcPts val="400"/>
              </a:spcBef>
              <a:defRPr sz="2000" b="1">
                <a:solidFill>
                  <a:srgbClr val="EDF4ED"/>
                </a:solidFill>
                <a:latin typeface="Segoe UI"/>
              </a:defRPr>
            </a:pPr>
            <a:r>
              <a:t>Cybersecurity &amp; Network Defense</a:t>
            </a:r>
          </a:p>
          <a:p>
            <a:pPr>
              <a:spcAft>
                <a:spcPts val="1400"/>
              </a:spcAft>
              <a:defRPr sz="1200">
                <a:solidFill>
                  <a:srgbClr val="94A9A4"/>
                </a:solidFill>
                <a:latin typeface="Segoe UI"/>
              </a:defRPr>
            </a:pPr>
            <a:r>
              <a:t>NTI Trainee &amp; Freelancer · National Telecommunication Institute</a:t>
            </a:r>
          </a:p>
          <a:p>
            <a:pPr>
              <a:spcBef>
                <a:spcPts val="600"/>
              </a:spcBef>
              <a:defRPr sz="1100" b="1">
                <a:solidFill>
                  <a:srgbClr val="70F0DF"/>
                </a:solidFill>
                <a:latin typeface="Consolas"/>
              </a:defRPr>
            </a:pPr>
            <a:r>
              <a:t>[C] Challenge: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Exploring practical network vulnerabilities, common attack vectors, and hands-on defense mechanisms.</a:t>
            </a:r>
          </a:p>
          <a:p>
            <a:pPr>
              <a:spcBef>
                <a:spcPts val="600"/>
              </a:spcBef>
              <a:defRPr sz="1100" b="1">
                <a:solidFill>
                  <a:srgbClr val="C9F76C"/>
                </a:solidFill>
                <a:latin typeface="Consolas"/>
              </a:defRPr>
            </a:pPr>
            <a:r>
              <a:t>[A] Action: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Applied reconnaissance, traffic sniffing, security assessment, and attack simulations in isolated lab environments.</a:t>
            </a:r>
          </a:p>
          <a:p>
            <a:pPr>
              <a:spcBef>
                <a:spcPts val="600"/>
              </a:spcBef>
              <a:defRPr sz="1100" b="1">
                <a:solidFill>
                  <a:srgbClr val="EDF4ED"/>
                </a:solidFill>
                <a:latin typeface="Consolas"/>
              </a:defRPr>
            </a:pPr>
            <a:r>
              <a:t>[R] Result:</a:t>
            </a:r>
          </a:p>
          <a:p>
            <a:pPr>
              <a:spcBef>
                <a:spcPts val="200"/>
              </a:spcBef>
              <a:defRPr sz="1100">
                <a:solidFill>
                  <a:srgbClr val="94A9A4"/>
                </a:solidFill>
                <a:latin typeface="Segoe UI"/>
              </a:defRPr>
            </a:pPr>
            <a:r>
              <a:t>Built practical awareness of security fundamentals and how defensive controls protect mission-critical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05  // 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Useful technical work, without the noise.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Direct solutions addressing critical organizational data and security challenges.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70F0DF"/>
                </a:solidFill>
                <a:latin typeface="Segoe UI"/>
              </a:defRPr>
            </a:pPr>
            <a:r>
              <a:t>⌁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700" b="1">
                <a:solidFill>
                  <a:srgbClr val="EDF4ED"/>
                </a:solidFill>
                <a:latin typeface="Segoe UI"/>
              </a:defRPr>
            </a:pPr>
            <a:r>
              <a:t>Data Analysis &amp; Engineering</a:t>
            </a:r>
          </a:p>
          <a:p>
            <a:pPr>
              <a:defRPr sz="1000" b="1">
                <a:solidFill>
                  <a:srgbClr val="C9F76C"/>
                </a:solidFill>
                <a:latin typeface="Consolas"/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Business data is scattered, disorganized, or difficult to extract actionable insights from.</a:t>
            </a:r>
          </a:p>
          <a:p>
            <a:pPr>
              <a:defRPr sz="1000" b="1">
                <a:solidFill>
                  <a:srgbClr val="70F0DF"/>
                </a:solidFill>
                <a:latin typeface="Consolas"/>
              </a:defRPr>
            </a:pPr>
            <a:r>
              <a:t>THE RESULT:</a:t>
            </a:r>
          </a:p>
          <a:p>
            <a:pPr>
              <a:spcAft>
                <a:spcPts val="1000"/>
              </a:spcAft>
              <a:defRPr sz="1100">
                <a:solidFill>
                  <a:srgbClr val="EDF4ED"/>
                </a:solidFill>
                <a:latin typeface="Segoe UI"/>
              </a:defRPr>
            </a:pPr>
            <a:r>
              <a:t>Designing structured pipelines that transform raw data into clear, reliable metrics and informed business decisions.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Clean ETL processing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Interactive dashboards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Actionable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C9F76C"/>
                </a:solidFill>
                <a:latin typeface="Segoe UI"/>
              </a:defRPr>
            </a:pPr>
            <a:r>
              <a:t>▣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700" b="1">
                <a:solidFill>
                  <a:srgbClr val="EDF4ED"/>
                </a:solidFill>
                <a:latin typeface="Segoe UI"/>
              </a:defRPr>
            </a:pPr>
            <a:r>
              <a:t>Database Architecture &amp; Design</a:t>
            </a:r>
          </a:p>
          <a:p>
            <a:pPr>
              <a:defRPr sz="1000" b="1">
                <a:solidFill>
                  <a:srgbClr val="C9F76C"/>
                </a:solidFill>
                <a:latin typeface="Consolas"/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Information lacks a robust, organized home, causing redundancy and query bottlenecks.</a:t>
            </a:r>
          </a:p>
          <a:p>
            <a:pPr>
              <a:defRPr sz="1000" b="1">
                <a:solidFill>
                  <a:srgbClr val="70F0DF"/>
                </a:solidFill>
                <a:latin typeface="Consolas"/>
              </a:defRPr>
            </a:pPr>
            <a:r>
              <a:t>THE RESULT:</a:t>
            </a:r>
          </a:p>
          <a:p>
            <a:pPr>
              <a:spcAft>
                <a:spcPts val="1000"/>
              </a:spcAft>
              <a:defRPr sz="1100">
                <a:solidFill>
                  <a:srgbClr val="EDF4ED"/>
                </a:solidFill>
                <a:latin typeface="Segoe UI"/>
              </a:defRPr>
            </a:pPr>
            <a:r>
              <a:t>Engineering normalized relational database schemas (RDBMS) built for data integrity, high consistency, and scale.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Normalized schemas (3NF)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Optimized SQL queries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ACID transactional safety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70F0DF"/>
                </a:solidFill>
                <a:latin typeface="Segoe UI"/>
              </a:defRPr>
            </a:pPr>
            <a:r>
              <a:t>◎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700" b="1">
                <a:solidFill>
                  <a:srgbClr val="EDF4ED"/>
                </a:solidFill>
                <a:latin typeface="Segoe UI"/>
              </a:defRPr>
            </a:pPr>
            <a:r>
              <a:t>Network &amp; Security Assessment</a:t>
            </a:r>
          </a:p>
          <a:p>
            <a:pPr>
              <a:defRPr sz="1000" b="1">
                <a:solidFill>
                  <a:srgbClr val="C9F76C"/>
                </a:solidFill>
                <a:latin typeface="Consolas"/>
              </a:defRPr>
            </a:pPr>
            <a:r>
              <a:t>THE PROBLEM:</a:t>
            </a:r>
          </a:p>
          <a:p>
            <a:pPr>
              <a:spcAft>
                <a:spcPts val="10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Basic network vulnerabilities and unmonitored ports remain unnoticed, creating risk.</a:t>
            </a:r>
          </a:p>
          <a:p>
            <a:pPr>
              <a:defRPr sz="1000" b="1">
                <a:solidFill>
                  <a:srgbClr val="70F0DF"/>
                </a:solidFill>
                <a:latin typeface="Consolas"/>
              </a:defRPr>
            </a:pPr>
            <a:r>
              <a:t>THE RESULT:</a:t>
            </a:r>
          </a:p>
          <a:p>
            <a:pPr>
              <a:spcAft>
                <a:spcPts val="1000"/>
              </a:spcAft>
              <a:defRPr sz="1100">
                <a:solidFill>
                  <a:srgbClr val="EDF4ED"/>
                </a:solidFill>
                <a:latin typeface="Segoe UI"/>
              </a:defRPr>
            </a:pPr>
            <a:r>
              <a:t>Delivering practical security fundamentals assessments to uncover risks and prioritize defense improvements.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Traffic reconnaissance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Vulnerability auditing</a:t>
            </a:r>
          </a:p>
          <a:p>
            <a:pPr>
              <a:defRPr sz="1000">
                <a:solidFill>
                  <a:srgbClr val="94A9A4"/>
                </a:solidFill>
                <a:latin typeface="Segoe UI"/>
              </a:defRPr>
            </a:pPr>
            <a:r>
              <a:t>✔ Security hardening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06  // 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Selected work with purpose &amp; impact.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Practical implementations spanning databases, cybersecurity labs, and responsive web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65960"/>
            <a:ext cx="2852928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70F0DF"/>
                </a:solidFill>
                <a:latin typeface="Consolas"/>
              </a:defRPr>
            </a:pPr>
            <a:r>
              <a:t>PROJECT 01  •  DATA &amp; DATABASES</a:t>
            </a:r>
          </a:p>
          <a:p>
            <a:pPr>
              <a:spcBef>
                <a:spcPts val="300"/>
              </a:spcBef>
              <a:defRPr sz="1650" b="1">
                <a:solidFill>
                  <a:srgbClr val="EDF4ED"/>
                </a:solidFill>
                <a:latin typeface="Segoe UI"/>
              </a:defRPr>
            </a:pPr>
            <a:r>
              <a:t>SQL Database Project</a:t>
            </a:r>
          </a:p>
          <a:p>
            <a:pPr>
              <a:spcBef>
                <a:spcPts val="300"/>
              </a:spcBef>
              <a:defRPr sz="1000" b="1">
                <a:solidFill>
                  <a:srgbClr val="70F0DF"/>
                </a:solidFill>
                <a:latin typeface="Segoe UI"/>
              </a:defRPr>
            </a:pPr>
            <a:r>
              <a:t>Role:</a:t>
            </a:r>
          </a:p>
          <a:p>
            <a:pPr>
              <a:defRPr sz="950">
                <a:solidFill>
                  <a:srgbClr val="EDF4ED"/>
                </a:solidFill>
                <a:latin typeface="Segoe UI"/>
              </a:defRPr>
            </a:pPr>
            <a:r>
              <a:t>Solo Database Designer / Developer.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Challenge: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Organize connected business entities in a scalable, strictly normalized format.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Action: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Engineered a relational database schema with structured primary/foreign keys, complex JOIN queries, and constraints.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Result: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Reliable data foundation ensuring zero duplication and fast querying.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5152" y="1965960"/>
            <a:ext cx="2852928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C9F76C"/>
                </a:solidFill>
                <a:latin typeface="Consolas"/>
              </a:defRPr>
            </a:pPr>
            <a:r>
              <a:t>PROJECT 02  •  CYBERSECURITY LAB</a:t>
            </a:r>
          </a:p>
          <a:p>
            <a:pPr>
              <a:spcBef>
                <a:spcPts val="300"/>
              </a:spcBef>
              <a:defRPr sz="1650" b="1">
                <a:solidFill>
                  <a:srgbClr val="EDF4ED"/>
                </a:solidFill>
                <a:latin typeface="Segoe UI"/>
              </a:defRPr>
            </a:pPr>
            <a:r>
              <a:t>MITM Lab (Man-in-the-Middle)</a:t>
            </a:r>
          </a:p>
          <a:p>
            <a:pPr>
              <a:spcBef>
                <a:spcPts val="300"/>
              </a:spcBef>
              <a:defRPr sz="1000" b="1">
                <a:solidFill>
                  <a:srgbClr val="70F0DF"/>
                </a:solidFill>
                <a:latin typeface="Segoe UI"/>
              </a:defRPr>
            </a:pPr>
            <a:r>
              <a:t>Role:</a:t>
            </a:r>
          </a:p>
          <a:p>
            <a:pPr>
              <a:defRPr sz="950">
                <a:solidFill>
                  <a:srgbClr val="EDF4ED"/>
                </a:solidFill>
                <a:latin typeface="Segoe UI"/>
              </a:defRPr>
            </a:pPr>
            <a:r>
              <a:t>Solo Security Researcher (Executed full attack simulation independently).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Challenge: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Examine how unencrypted network traffic and spoofed ARP frames compromise integrity.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Action: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Simulated ARP cache poisoning in a controlled sandbox to observe packet flow and credential leakage.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Result: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Actionable understanding of attack vectors and essential encryption safeguards.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965960"/>
            <a:ext cx="2852928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DF4ED"/>
                </a:solidFill>
                <a:latin typeface="Consolas"/>
              </a:defRPr>
            </a:pPr>
            <a:r>
              <a:t>PROJECT 03  •  WEB DEVELOPMENT</a:t>
            </a:r>
          </a:p>
          <a:p>
            <a:pPr>
              <a:spcBef>
                <a:spcPts val="300"/>
              </a:spcBef>
              <a:defRPr sz="1650" b="1">
                <a:solidFill>
                  <a:srgbClr val="EDF4ED"/>
                </a:solidFill>
                <a:latin typeface="Segoe UI"/>
              </a:defRPr>
            </a:pPr>
            <a:r>
              <a:t>Online Book Store Website</a:t>
            </a:r>
          </a:p>
          <a:p>
            <a:pPr>
              <a:spcBef>
                <a:spcPts val="300"/>
              </a:spcBef>
              <a:defRPr sz="1000" b="1">
                <a:solidFill>
                  <a:srgbClr val="70F0DF"/>
                </a:solidFill>
                <a:latin typeface="Segoe UI"/>
              </a:defRPr>
            </a:pPr>
            <a:r>
              <a:t>Role:</a:t>
            </a:r>
          </a:p>
          <a:p>
            <a:pPr>
              <a:defRPr sz="950">
                <a:solidFill>
                  <a:srgbClr val="EDF4ED"/>
                </a:solidFill>
                <a:latin typeface="Segoe UI"/>
              </a:defRPr>
            </a:pPr>
            <a:r>
              <a:t>Front-End Developer (UI design &amp; implementation via HTML/CSS).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Challenge: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Build an engaging, accessible catalog browsing experience for book lovers.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Action: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Developed an interactive client-side web interface with catalog filtering and responsive design.</a:t>
            </a:r>
          </a:p>
          <a:p>
            <a:pPr>
              <a:spcBef>
                <a:spcPts val="300"/>
              </a:spcBef>
              <a:defRPr sz="1000" b="1">
                <a:solidFill>
                  <a:srgbClr val="C9F76C"/>
                </a:solidFill>
                <a:latin typeface="Segoe UI"/>
              </a:defRPr>
            </a:pPr>
            <a:r>
              <a:t>Result: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Smooth, polished front-end product demonstrating modern web engineering standards.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07  //  ACHIEVEMENTS &amp;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Milestones that keep me moving forward.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Key accomplishments reflecting technical commitment, specialized training, and dedication.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70F0DF"/>
                </a:solidFill>
                <a:latin typeface="Consolas"/>
              </a:defRPr>
            </a:pPr>
            <a:r>
              <a:t>✦  SQL CERTIFICATION</a:t>
            </a:r>
          </a:p>
          <a:p>
            <a:pPr>
              <a:spcBef>
                <a:spcPts val="600"/>
              </a:spcBef>
              <a:defRPr sz="1800" b="1">
                <a:solidFill>
                  <a:srgbClr val="EDF4ED"/>
                </a:solidFill>
                <a:latin typeface="Segoe UI"/>
              </a:defRPr>
            </a:pPr>
            <a:r>
              <a:t>SQL (Basic) Certificate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70F0DF"/>
                </a:solidFill>
                <a:latin typeface="Segoe UI"/>
              </a:defRPr>
            </a:pPr>
            <a:r>
              <a:t>HackerRank  •  ID: E25E7E2FC547</a:t>
            </a:r>
          </a:p>
          <a:p>
            <a:pPr>
              <a:spcAft>
                <a:spcPts val="16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Officially certified in relational database queries, complex filtering, joins, aggregations, and data retrieval. Verified credential on HackerRank.</a:t>
            </a:r>
          </a:p>
          <a:p>
            <a:pPr>
              <a:defRPr sz="1100" b="1">
                <a:solidFill>
                  <a:srgbClr val="C9F76C"/>
                </a:solidFill>
                <a:latin typeface="Consolas"/>
              </a:defRPr>
            </a:pPr>
            <a:r>
              <a:t>★ Verified — HackerRank Credential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C9F76C"/>
                </a:solidFill>
                <a:latin typeface="Consolas"/>
              </a:defRPr>
            </a:pPr>
            <a:r>
              <a:t>◈  CYBERSECURITY ACADEMY</a:t>
            </a:r>
          </a:p>
          <a:p>
            <a:pPr>
              <a:spcBef>
                <a:spcPts val="600"/>
              </a:spcBef>
              <a:defRPr sz="1800" b="1">
                <a:solidFill>
                  <a:srgbClr val="EDF4ED"/>
                </a:solidFill>
                <a:latin typeface="Segoe UI"/>
              </a:defRPr>
            </a:pPr>
            <a:r>
              <a:t>NTI Cybersecurity Certification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70F0DF"/>
                </a:solidFill>
                <a:latin typeface="Segoe UI"/>
              </a:defRPr>
            </a:pPr>
            <a:r>
              <a:t>National Telecommunication Institute (Physical Certificate)</a:t>
            </a:r>
          </a:p>
          <a:p>
            <a:pPr>
              <a:spcAft>
                <a:spcPts val="16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Successfully completed an intensive 60 technical hours cybersecurity training academy covering networking, reconnaissance, vulnerability assessment, and defense fundamentals.</a:t>
            </a:r>
          </a:p>
          <a:p>
            <a:pPr>
              <a:defRPr sz="1100" b="1">
                <a:solidFill>
                  <a:srgbClr val="C9F76C"/>
                </a:solidFill>
                <a:latin typeface="Consolas"/>
              </a:defRPr>
            </a:pPr>
            <a:r>
              <a:t>★ 60 Hours — Physical Certificate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64992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57400"/>
            <a:ext cx="2816352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EDF4ED"/>
                </a:solidFill>
                <a:latin typeface="Consolas"/>
              </a:defRPr>
            </a:pPr>
            <a:r>
              <a:t>⌘  DATA ENGINEERING</a:t>
            </a:r>
          </a:p>
          <a:p>
            <a:pPr>
              <a:spcBef>
                <a:spcPts val="600"/>
              </a:spcBef>
              <a:defRPr sz="1800" b="1">
                <a:solidFill>
                  <a:srgbClr val="EDF4ED"/>
                </a:solidFill>
                <a:latin typeface="Segoe UI"/>
              </a:defRPr>
            </a:pPr>
            <a:r>
              <a:t>DEPI Selection Track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>
                <a:solidFill>
                  <a:srgbClr val="70F0DF"/>
                </a:solidFill>
                <a:latin typeface="Segoe UI"/>
              </a:defRPr>
            </a:pPr>
            <a:r>
              <a:t>Microsoft Data Engineer Track</a:t>
            </a:r>
          </a:p>
          <a:p>
            <a:pPr>
              <a:spcAft>
                <a:spcPts val="1600"/>
              </a:spcAft>
              <a:defRPr sz="1100">
                <a:solidFill>
                  <a:srgbClr val="94A9A4"/>
                </a:solidFill>
                <a:latin typeface="Segoe UI"/>
              </a:defRPr>
            </a:pPr>
            <a:r>
              <a:t>Competitively selected for the prestigious Digital Egypt Pioneers Initiative (DEPI). Undergoing intensive specialized training in big data pipelines, enterprise analytics, and cloud databases.</a:t>
            </a:r>
          </a:p>
          <a:p>
            <a:pPr>
              <a:defRPr sz="1100" b="1">
                <a:solidFill>
                  <a:srgbClr val="C9F76C"/>
                </a:solidFill>
                <a:latin typeface="Consolas"/>
              </a:defRPr>
            </a:pPr>
            <a:r>
              <a:t>★ Top Tier — Selection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0F0DF"/>
                </a:solidFill>
                <a:latin typeface="Consolas"/>
              </a:defRPr>
            </a:pPr>
            <a:r>
              <a:t>08  // 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EDF4ED"/>
                </a:solidFill>
                <a:latin typeface="Segoe UI"/>
              </a:defRPr>
            </a:pPr>
            <a:r>
              <a:t>Let’s make your data work harder.</a:t>
            </a:r>
          </a:p>
          <a:p>
            <a:pPr>
              <a:spcBef>
                <a:spcPts val="400"/>
              </a:spcBef>
              <a:defRPr sz="1300">
                <a:solidFill>
                  <a:srgbClr val="94A9A4"/>
                </a:solidFill>
                <a:latin typeface="Segoe UI"/>
              </a:defRPr>
            </a:pPr>
            <a:r>
              <a:t>Available for internships, technical engineering opportunities, and project collaborations.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120640" cy="420624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70F0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EDF4ED"/>
                </a:solidFill>
                <a:latin typeface="Segoe UI"/>
              </a:defRPr>
            </a:pPr>
            <a:r>
              <a:t>Get in Touch</a:t>
            </a:r>
          </a:p>
          <a:p>
            <a:pPr>
              <a:spcBef>
                <a:spcPts val="1000"/>
              </a:spcBef>
              <a:spcAft>
                <a:spcPts val="1800"/>
              </a:spcAft>
              <a:defRPr sz="1300">
                <a:solidFill>
                  <a:srgbClr val="94A9A4"/>
                </a:solidFill>
                <a:latin typeface="Segoe UI"/>
              </a:defRPr>
            </a:pPr>
            <a:r>
              <a:t>Have a project, internship, or technical collaboration in mind? I’d be glad to discuss how my data engineering and cybersecurity foundations can create value for your team.</a:t>
            </a:r>
          </a:p>
          <a:p>
            <a:pPr>
              <a:spcAft>
                <a:spcPts val="1200"/>
              </a:spcAft>
              <a:defRPr sz="1500" b="1">
                <a:solidFill>
                  <a:srgbClr val="C9F76C"/>
                </a:solidFill>
                <a:latin typeface="Segoe UI"/>
              </a:defRPr>
            </a:pPr>
            <a:r>
              <a:t>“Data-minded. Security-aware. Always building.”</a:t>
            </a:r>
          </a:p>
          <a:p>
            <a:pPr>
              <a:defRPr sz="1200">
                <a:solidFill>
                  <a:srgbClr val="70F0DF"/>
                </a:solidFill>
                <a:latin typeface="Segoe UI"/>
              </a:defRPr>
            </a:pPr>
            <a:r>
              <a:t>متاح للفرص والتدريبات ومشاريع هندسة البيانات وأمن المعلومات.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96012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38528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F76C"/>
                </a:solidFill>
                <a:latin typeface="Consolas"/>
              </a:defRPr>
            </a:pPr>
            <a:r>
              <a:t>✉  EMAIL ADDRESS</a:t>
            </a:r>
          </a:p>
          <a:p>
            <a:pPr>
              <a:spcBef>
                <a:spcPts val="200"/>
              </a:spcBef>
              <a:defRPr sz="1350" b="1">
                <a:solidFill>
                  <a:srgbClr val="EDF4ED"/>
                </a:solidFill>
                <a:latin typeface="Segoe UI"/>
              </a:defRPr>
            </a:pPr>
            <a:r>
              <a:t>momr09989@gmail.com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Direct correspondence for inquiries and project discussions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07792"/>
            <a:ext cx="5120640" cy="96012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017520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70F0DF"/>
                </a:solidFill>
                <a:latin typeface="Consolas"/>
              </a:defRPr>
            </a:pPr>
            <a:r>
              <a:t>✆  PHONE NUMBER</a:t>
            </a:r>
          </a:p>
          <a:p>
            <a:pPr>
              <a:spcBef>
                <a:spcPts val="200"/>
              </a:spcBef>
              <a:defRPr sz="1350" b="1">
                <a:solidFill>
                  <a:srgbClr val="EDF4ED"/>
                </a:solidFill>
                <a:latin typeface="Segoe UI"/>
              </a:defRPr>
            </a:pPr>
            <a:r>
              <a:t>01121024708  /  (+20) 1121024708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Call or WhatsApp for immediate communication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86784"/>
            <a:ext cx="5120640" cy="96012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96512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DF4ED"/>
                </a:solidFill>
                <a:latin typeface="Consolas"/>
              </a:defRPr>
            </a:pPr>
            <a:r>
              <a:t>◈  PROFESSIONAL PROFILES</a:t>
            </a:r>
          </a:p>
          <a:p>
            <a:pPr>
              <a:spcBef>
                <a:spcPts val="200"/>
              </a:spcBef>
              <a:defRPr sz="1350" b="1">
                <a:solidFill>
                  <a:srgbClr val="EDF4ED"/>
                </a:solidFill>
                <a:latin typeface="Segoe UI"/>
              </a:defRPr>
            </a:pPr>
            <a:r>
              <a:t>linkedin.com/in/omar-ebied-7b92a8357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Connect for career updates and professional discussions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65776"/>
            <a:ext cx="5120640" cy="960120"/>
          </a:xfrm>
          <a:prstGeom prst="roundRect">
            <a:avLst/>
          </a:prstGeom>
          <a:solidFill>
            <a:srgbClr val="0E191C"/>
          </a:solidFill>
          <a:ln w="15240">
            <a:solidFill>
              <a:srgbClr val="203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5175504"/>
            <a:ext cx="45720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9F76C"/>
                </a:solidFill>
                <a:latin typeface="Consolas"/>
              </a:defRPr>
            </a:pPr>
            <a:r>
              <a:t>⌖  LOCATION &amp; STATUS</a:t>
            </a:r>
          </a:p>
          <a:p>
            <a:pPr>
              <a:spcBef>
                <a:spcPts val="200"/>
              </a:spcBef>
              <a:defRPr sz="1350" b="1">
                <a:solidFill>
                  <a:srgbClr val="EDF4ED"/>
                </a:solidFill>
                <a:latin typeface="Segoe UI"/>
              </a:defRPr>
            </a:pPr>
            <a:r>
              <a:t>Cairo, Egypt  •  Helwan National University</a:t>
            </a:r>
          </a:p>
          <a:p>
            <a:pPr>
              <a:defRPr sz="950">
                <a:solidFill>
                  <a:srgbClr val="94A9A4"/>
                </a:solidFill>
                <a:latin typeface="Segoe UI"/>
              </a:defRPr>
            </a:pPr>
            <a:r>
              <a:t>Open to on-site, hybrid, and remote opportunities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093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E746F"/>
                </a:solidFill>
                <a:latin typeface="Consolas"/>
              </a:defRPr>
            </a:pPr>
            <a:r>
              <a:t>OE.  Omar Ebied  |  Portfolio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